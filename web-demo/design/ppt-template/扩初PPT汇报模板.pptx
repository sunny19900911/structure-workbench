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e78e4f1e36486c" /><Relationship Type="http://schemas.openxmlformats.org/officeDocument/2006/relationships/extended-properties" Target="/docProps/app.xml" Id="R4256552f2b1a4c45" /><Relationship Type="http://schemas.openxmlformats.org/officeDocument/2006/relationships/officeDocument" Target="/ppt/presentation.xml" Id="R51ebe78149b24f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830a1f30094e30"/>
  </p:sldMasterIdLst>
  <p:notesMasterIdLst>
    <p:notesMasterId xmlns:r="http://schemas.openxmlformats.org/officeDocument/2006/relationships" r:id="R9c7a55c4fd504ff3"/>
  </p:notesMasterIdLst>
  <p:sldIdLst>
    <p:sldId xmlns:r="http://schemas.openxmlformats.org/officeDocument/2006/relationships" id="256" r:id="Rf0a6e9a85add42f6"/>
    <p:sldId xmlns:r="http://schemas.openxmlformats.org/officeDocument/2006/relationships" id="257" r:id="R81f9cb989b634d7d"/>
    <p:sldId xmlns:r="http://schemas.openxmlformats.org/officeDocument/2006/relationships" id="258" r:id="R8220a86c51744499"/>
    <p:sldId xmlns:r="http://schemas.openxmlformats.org/officeDocument/2006/relationships" id="259" r:id="R46c4ce4d32ff4f95"/>
    <p:sldId xmlns:r="http://schemas.openxmlformats.org/officeDocument/2006/relationships" id="260" r:id="R7d2db382a46346e1"/>
    <p:sldId xmlns:r="http://schemas.openxmlformats.org/officeDocument/2006/relationships" id="261" r:id="R7036e11e0a084fc8"/>
    <p:sldId xmlns:r="http://schemas.openxmlformats.org/officeDocument/2006/relationships" id="262" r:id="R6a9994c906434c74"/>
    <p:sldId xmlns:r="http://schemas.openxmlformats.org/officeDocument/2006/relationships" id="263" r:id="R0d1d5f147bd84ff8"/>
    <p:sldId xmlns:r="http://schemas.openxmlformats.org/officeDocument/2006/relationships" id="264" r:id="Rf47d61c156664e97"/>
    <p:sldId xmlns:r="http://schemas.openxmlformats.org/officeDocument/2006/relationships" id="265" r:id="Rd1fad08a423b4076"/>
    <p:sldId xmlns:r="http://schemas.openxmlformats.org/officeDocument/2006/relationships" id="266" r:id="R662d44bd9995496f"/>
    <p:sldId xmlns:r="http://schemas.openxmlformats.org/officeDocument/2006/relationships" id="267" r:id="R5c10dbd9306a4312"/>
    <p:sldId xmlns:r="http://schemas.openxmlformats.org/officeDocument/2006/relationships" id="268" r:id="R6348ce380a6c4512"/>
    <p:sldId xmlns:r="http://schemas.openxmlformats.org/officeDocument/2006/relationships" id="269" r:id="Rb4630f5d5caf4da2"/>
    <p:sldId xmlns:r="http://schemas.openxmlformats.org/officeDocument/2006/relationships" id="270" r:id="R9187dcd57c774b60"/>
    <p:sldId xmlns:r="http://schemas.openxmlformats.org/officeDocument/2006/relationships" id="271" r:id="Rc3a4fe9698a440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2f140e9baa46f1" /><Relationship Type="http://schemas.openxmlformats.org/officeDocument/2006/relationships/slideMaster" Target="/ppt/slideMasters/slideMaster1.xml" Id="Rdf830a1f30094e30" /><Relationship Type="http://schemas.openxmlformats.org/officeDocument/2006/relationships/notesMaster" Target="/ppt/notesMasters/notesMaster1.xml" Id="R9c7a55c4fd504ff3" /><Relationship Type="http://schemas.openxmlformats.org/officeDocument/2006/relationships/presProps" Target="/ppt/presProps.xml" Id="Rfb30a0396e3b47a7" /><Relationship Type="http://schemas.openxmlformats.org/officeDocument/2006/relationships/tableStyles" Target="/ppt/tableStyles.xml" Id="Raa343b7c22354272" /><Relationship Type="http://schemas.openxmlformats.org/officeDocument/2006/relationships/slide" Target="/ppt/slides/slide1.xml" Id="Rf0a6e9a85add42f6" /><Relationship Type="http://schemas.openxmlformats.org/officeDocument/2006/relationships/slide" Target="/ppt/slides/slide2.xml" Id="R81f9cb989b634d7d" /><Relationship Type="http://schemas.openxmlformats.org/officeDocument/2006/relationships/slide" Target="/ppt/slides/slide3.xml" Id="R8220a86c51744499" /><Relationship Type="http://schemas.openxmlformats.org/officeDocument/2006/relationships/slide" Target="/ppt/slides/slide4.xml" Id="R46c4ce4d32ff4f95" /><Relationship Type="http://schemas.openxmlformats.org/officeDocument/2006/relationships/slide" Target="/ppt/slides/slide5.xml" Id="R7d2db382a46346e1" /><Relationship Type="http://schemas.openxmlformats.org/officeDocument/2006/relationships/slide" Target="/ppt/slides/slide6.xml" Id="R7036e11e0a084fc8" /><Relationship Type="http://schemas.openxmlformats.org/officeDocument/2006/relationships/slide" Target="/ppt/slides/slide7.xml" Id="R6a9994c906434c74" /><Relationship Type="http://schemas.openxmlformats.org/officeDocument/2006/relationships/slide" Target="/ppt/slides/slide8.xml" Id="R0d1d5f147bd84ff8" /><Relationship Type="http://schemas.openxmlformats.org/officeDocument/2006/relationships/slide" Target="/ppt/slides/slide9.xml" Id="Rf47d61c156664e97" /><Relationship Type="http://schemas.openxmlformats.org/officeDocument/2006/relationships/slide" Target="/ppt/slides/slide10.xml" Id="Rd1fad08a423b4076" /><Relationship Type="http://schemas.openxmlformats.org/officeDocument/2006/relationships/slide" Target="/ppt/slides/slide11.xml" Id="R662d44bd9995496f" /><Relationship Type="http://schemas.openxmlformats.org/officeDocument/2006/relationships/slide" Target="/ppt/slides/slide12.xml" Id="R5c10dbd9306a4312" /><Relationship Type="http://schemas.openxmlformats.org/officeDocument/2006/relationships/slide" Target="/ppt/slides/slide13.xml" Id="R6348ce380a6c4512" /><Relationship Type="http://schemas.openxmlformats.org/officeDocument/2006/relationships/slide" Target="/ppt/slides/slide14.xml" Id="Rb4630f5d5caf4da2" /><Relationship Type="http://schemas.openxmlformats.org/officeDocument/2006/relationships/slide" Target="/ppt/slides/slide15.xml" Id="R9187dcd57c774b60" /><Relationship Type="http://schemas.openxmlformats.org/officeDocument/2006/relationships/slide" Target="/ppt/slides/slide16.xml" Id="Rc3a4fe9698a440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63683b503f42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2459ce54ac4385" /><Relationship Type="http://schemas.openxmlformats.org/officeDocument/2006/relationships/notesMaster" Target="/ppt/notesMasters/notesMaster1.xml" Id="Rb637ec9e79f649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ab1a7b8e324088" /><Relationship Type="http://schemas.openxmlformats.org/officeDocument/2006/relationships/notesMaster" Target="/ppt/notesMasters/notesMaster1.xml" Id="Rc3e9c6dfdf8f44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b67daba24543f3" /><Relationship Type="http://schemas.openxmlformats.org/officeDocument/2006/relationships/notesMaster" Target="/ppt/notesMasters/notesMaster1.xml" Id="Re78769a53b374f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68db9b5d334e2a" /><Relationship Type="http://schemas.openxmlformats.org/officeDocument/2006/relationships/notesMaster" Target="/ppt/notesMasters/notesMaster1.xml" Id="Rc39204e765ac4c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6490ce863f43cc" /><Relationship Type="http://schemas.openxmlformats.org/officeDocument/2006/relationships/notesMaster" Target="/ppt/notesMasters/notesMaster1.xml" Id="Rb72042163d9a47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b9d7c806d04690" /><Relationship Type="http://schemas.openxmlformats.org/officeDocument/2006/relationships/notesMaster" Target="/ppt/notesMasters/notesMaster1.xml" Id="Rd8f398c3ff6548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d42b9927f74080" /><Relationship Type="http://schemas.openxmlformats.org/officeDocument/2006/relationships/notesMaster" Target="/ppt/notesMasters/notesMaster1.xml" Id="R0010e836def747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af61681d8e4a8a" /><Relationship Type="http://schemas.openxmlformats.org/officeDocument/2006/relationships/notesMaster" Target="/ppt/notesMasters/notesMaster1.xml" Id="R3db1d87cb5914b6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c53c78a4ce45d2" /><Relationship Type="http://schemas.openxmlformats.org/officeDocument/2006/relationships/notesMaster" Target="/ppt/notesMasters/notesMaster1.xml" Id="R558a550479214e8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5ca56f4d0b84bab" /><Relationship Type="http://schemas.openxmlformats.org/officeDocument/2006/relationships/notesMaster" Target="/ppt/notesMasters/notesMaster1.xml" Id="R6ef1c95865b9490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361b67da0da4a10" /><Relationship Type="http://schemas.openxmlformats.org/officeDocument/2006/relationships/notesMaster" Target="/ppt/notesMasters/notesMaster1.xml" Id="Rbf0ecb98617f4c5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4a1974787a04388" /><Relationship Type="http://schemas.openxmlformats.org/officeDocument/2006/relationships/notesMaster" Target="/ppt/notesMasters/notesMaster1.xml" Id="Rd33a92e0d983467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95eaf7530914883" /><Relationship Type="http://schemas.openxmlformats.org/officeDocument/2006/relationships/notesMaster" Target="/ppt/notesMasters/notesMaster1.xml" Id="R772a08c29293491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1ed2a6772ca4ab2" /><Relationship Type="http://schemas.openxmlformats.org/officeDocument/2006/relationships/notesMaster" Target="/ppt/notesMasters/notesMaster1.xml" Id="Re492f9439f03445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bfef5abf137492a" /><Relationship Type="http://schemas.openxmlformats.org/officeDocument/2006/relationships/notesMaster" Target="/ppt/notesMasters/notesMaster1.xml" Id="R0fdc67a8b24d42c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9f5033acc514fb2" /><Relationship Type="http://schemas.openxmlformats.org/officeDocument/2006/relationships/notesMaster" Target="/ppt/notesMasters/notesMaster1.xml" Id="Rd529332f5c6b45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模板占位内容，生成项目汇报时替换。样式参考三份历史项目PPT，冲突以云南旅游学院初步设计汇报为主。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模板占位内容，生成项目汇报时替换。样式参考三份历史项目PPT，冲突以云南旅游学院初步设计汇报为主。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模板占位内容，生成项目汇报时替换。样式参考三份历史项目PPT，冲突以云南旅游学院初步设计汇报为主。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模板占位内容，生成项目汇报时替换。样式参考三份历史项目PPT，冲突以云南旅游学院初步设计汇报为主。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模板占位内容，生成项目汇报时替换。样式参考三份历史项目PPT，冲突以云南旅游学院初步设计汇报为主。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模板占位内容，生成项目汇报时替换。样式参考三份历史项目PPT，冲突以云南旅游学院初步设计汇报为主。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模板占位内容，生成项目汇报时替换。样式参考三份历史项目PPT，冲突以云南旅游学院初步设计汇报为主。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模板占位内容，生成项目汇报时替换。样式参考三份历史项目PPT，冲突以云南旅游学院初步设计汇报为主。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模板占位内容，生成项目汇报时替换。样式参考三份历史项目PPT，冲突以云南旅游学院初步设计汇报为主。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模板占位内容，生成项目汇报时替换。样式参考三份历史项目PPT，冲突以云南旅游学院初步设计汇报为主。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模板占位内容，生成项目汇报时替换。样式参考三份历史项目PPT，冲突以云南旅游学院初步设计汇报为主。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模板占位内容，生成项目汇报时替换。样式参考三份历史项目PPT，冲突以云南旅游学院初步设计汇报为主。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模板占位内容，生成项目汇报时替换。样式参考三份历史项目PPT，冲突以云南旅游学院初步设计汇报为主。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模板占位内容，生成项目汇报时替换。样式参考三份历史项目PPT，冲突以云南旅游学院初步设计汇报为主。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模板占位内容，生成项目汇报时替换。样式参考三份历史项目PPT，冲突以云南旅游学院初步设计汇报为主。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模板占位内容，生成项目汇报时替换。样式参考三份历史项目PPT，冲突以云南旅游学院初步设计汇报为主。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166d604b6d40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b5fca62809409d" /><Relationship Type="http://schemas.openxmlformats.org/officeDocument/2006/relationships/slideLayout" Target="/ppt/slideLayouts/slideLayout1.xml" Id="R36c4b9a122ac4c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c4b9a122ac4c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5e7b5934c44abb" /><Relationship Type="http://schemas.openxmlformats.org/officeDocument/2006/relationships/notesSlide" Target="/ppt/notesSlides/notesSlide1.xml" Id="Rd8038b129a7a44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f519686e2d4703" /><Relationship Type="http://schemas.openxmlformats.org/officeDocument/2006/relationships/notesSlide" Target="/ppt/notesSlides/notesSlide2.xml" Id="Refc842d99bf446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a6da6017c34c8f" /><Relationship Type="http://schemas.openxmlformats.org/officeDocument/2006/relationships/notesSlide" Target="/ppt/notesSlides/notesSlide3.xml" Id="R44fd502ce23b40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f1d18921a04672" /><Relationship Type="http://schemas.openxmlformats.org/officeDocument/2006/relationships/notesSlide" Target="/ppt/notesSlides/notesSlide4.xml" Id="Rc34f05e9100b4e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5e05428744b77" /><Relationship Type="http://schemas.openxmlformats.org/officeDocument/2006/relationships/notesSlide" Target="/ppt/notesSlides/notesSlide5.xml" Id="R13893e6d224c49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c2684324b48f7" /><Relationship Type="http://schemas.openxmlformats.org/officeDocument/2006/relationships/notesSlide" Target="/ppt/notesSlides/notesSlide6.xml" Id="Rf0ef9923cfbb4d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408c7a750c4af6" /><Relationship Type="http://schemas.openxmlformats.org/officeDocument/2006/relationships/notesSlide" Target="/ppt/notesSlides/notesSlide7.xml" Id="R3a9496fc7a884b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1e252e9e24454" /><Relationship Type="http://schemas.openxmlformats.org/officeDocument/2006/relationships/notesSlide" Target="/ppt/notesSlides/notesSlide8.xml" Id="R159383c547014c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b5d001f2745c9" /><Relationship Type="http://schemas.openxmlformats.org/officeDocument/2006/relationships/notesSlide" Target="/ppt/notesSlides/notesSlide9.xml" Id="R9d144eb9bc9a46f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dcd97c048d4d5e" /><Relationship Type="http://schemas.openxmlformats.org/officeDocument/2006/relationships/notesSlide" Target="/ppt/notesSlides/notesSlide10.xml" Id="R17dfbca5eb0f404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7048b343a94858" /><Relationship Type="http://schemas.openxmlformats.org/officeDocument/2006/relationships/notesSlide" Target="/ppt/notesSlides/notesSlide11.xml" Id="Rc0f0f13d9ff142c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e31ac9152846a2" /><Relationship Type="http://schemas.openxmlformats.org/officeDocument/2006/relationships/notesSlide" Target="/ppt/notesSlides/notesSlide12.xml" Id="R95887e431163481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9956fa13be46ec" /><Relationship Type="http://schemas.openxmlformats.org/officeDocument/2006/relationships/notesSlide" Target="/ppt/notesSlides/notesSlide13.xml" Id="R5db07fb20eb440a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f14906e1d8405a" /><Relationship Type="http://schemas.openxmlformats.org/officeDocument/2006/relationships/notesSlide" Target="/ppt/notesSlides/notesSlide14.xml" Id="Ra3a03a9cde0a49f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c8a72390e242da" /><Relationship Type="http://schemas.openxmlformats.org/officeDocument/2006/relationships/notesSlide" Target="/ppt/notesSlides/notesSlide15.xml" Id="R7f8aceeacf29444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5775ae845e4d64" /><Relationship Type="http://schemas.openxmlformats.org/officeDocument/2006/relationships/notesSlide" Target="/ppt/notesSlides/notesSlide16.xml" Id="Rc265480152e545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938DBA-7A26-4755-B3AB-7A99AA09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09875"/>
            <a:ext cx="12134850" cy="1990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0E7404-FE4A-4C33-80C3-385D9F7E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[项目名称]扩初设计汇报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E7A103-38FD-41D7-8506-3EFB05F6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482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[汇报日期]</a:t>
            </a:r>
          </a:p>
        </p:txBody>
      </p:sp>
    </p:spTree>
    <p:extLst>
      <p:ext uri="{BB962C8B-B14F-4D97-AF65-F5344CB8AC3E}">
        <p14:creationId xmlns:p14="http://schemas.microsoft.com/office/powerpoint/2010/main" val="9783587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781A8F-FF7A-4007-B774-CCFDDC82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33675"/>
            <a:ext cx="12192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8ECDDE-7B9F-4208-868E-1F267229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48050"/>
            <a:ext cx="428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——  总体  ——</a:t>
            </a:r>
          </a:p>
        </p:txBody>
      </p:sp>
    </p:spTree>
    <p:extLst>
      <p:ext uri="{BB962C8B-B14F-4D97-AF65-F5344CB8AC3E}">
        <p14:creationId xmlns:p14="http://schemas.microsoft.com/office/powerpoint/2010/main" val="8620555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AE1CBE-915C-419D-9FC2-718B5369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"/>
            <a:ext cx="10782300" cy="600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DF0DF7-1360-4994-B9D2-ED0C7525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0707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07070"/>
                </a:solidFill>
                <a:latin typeface="微软雅黑"/>
                <a:ea typeface="微软雅黑"/>
                <a:cs typeface="微软雅黑"/>
              </a:rPr>
              <a:t>项目鸟瞰图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C37F9A-E725-4042-B603-0D7DD933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4389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5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项目鸟瞰图</a:t>
            </a:r>
          </a:p>
        </p:txBody>
      </p:sp>
    </p:spTree>
    <p:extLst>
      <p:ext uri="{BB962C8B-B14F-4D97-AF65-F5344CB8AC3E}">
        <p14:creationId xmlns:p14="http://schemas.microsoft.com/office/powerpoint/2010/main" val="3751688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33E67B-1255-4511-943A-4919B891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76200"/>
            <a:ext cx="72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32CB38-AF4C-4D93-9A39-1344274B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结构设计概况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0E5B22-4A3C-4BAB-9382-740CA6A6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ABCEED-AC9F-44D2-9263-046AA5F4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214E11-4D41-4E2C-85CC-E3FCB696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76300"/>
            <a:ext cx="5191125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C9141B-B55F-4685-8D34-61B2B115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28975"/>
            <a:ext cx="48863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0707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07070"/>
                </a:solidFill>
                <a:latin typeface="微软雅黑"/>
                <a:ea typeface="微软雅黑"/>
                <a:cs typeface="微软雅黑"/>
              </a:rPr>
              <a:t>项目总平面图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82C327-21B3-42FA-9A7C-88F6B55E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838200"/>
            <a:ext cx="590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5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[项目总体说明]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810250" y="2266950"/>
          <a:ext xmlns:a="http://schemas.openxmlformats.org/drawingml/2006/main" cx="5905500" cy="1238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76375"/>
                <a:gridCol w="1476375"/>
                <a:gridCol w="1476375"/>
                <a:gridCol w="1476375"/>
              </a:tblGrid>
              <a:tr h="6191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建筑单体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结构体系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层数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设防方式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[代表单体]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[结构体系]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[地上/地下]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[填写]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15272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1B54FE-8F48-4914-B7EA-BF0720D6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76200"/>
            <a:ext cx="72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2C9BAF-AE60-4421-AC81-C43DFA62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结构设计参数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EF6C15-DB04-42BC-98AE-C7699040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44F7D6-274F-4A1F-A677-51AB9750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95300" y="1047750"/>
          <a:ext xmlns:a="http://schemas.openxmlformats.org/drawingml/2006/main" cx="112014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0350"/>
                <a:gridCol w="2800350"/>
                <a:gridCol w="2800350"/>
                <a:gridCol w="2800350"/>
              </a:tblGrid>
              <a:tr h="495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取值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取值</a:t>
                      </a:r>
                    </a:p>
                  </a:txBody>
                  <a:tcPr marL="91440" marR="91440" marT="45720" marB="45720"/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结构设计使用年限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[填写]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结构重要性系数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[填写]</a:t>
                      </a:r>
                    </a:p>
                  </a:txBody>
                  <a:tcPr marL="91440" marR="91440" marT="45720" marB="45720"/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建筑结构安全等级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[填写]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建筑抗震设防类别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[填写]</a:t>
                      </a:r>
                    </a:p>
                  </a:txBody>
                  <a:tcPr marL="91440" marR="91440" marT="45720" marB="45720"/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地基基础设计等级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[填写]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抗震设防烈度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[填写]</a:t>
                      </a:r>
                    </a:p>
                  </a:txBody>
                  <a:tcPr marL="91440" marR="91440" marT="45720" marB="45720"/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设计地震分组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[填写]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场地类别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[填写]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graphicFrame>
        <p:nvGraphicFramePr>
          <p:cNvPr id="12" name=""/>
          <p:cNvGraphicFramePr/>
          <p:nvPr/>
        </p:nvGraphicFramePr>
        <p:xfrm>
          <a:off xmlns:a="http://schemas.openxmlformats.org/drawingml/2006/main" x="1562100" y="3943350"/>
          <a:ext xmlns:a="http://schemas.openxmlformats.org/drawingml/2006/main" cx="9067800" cy="1809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22600"/>
                <a:gridCol w="3022600"/>
                <a:gridCol w="3022600"/>
              </a:tblGrid>
              <a:tr h="452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荷载类别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标准值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91440" marR="91440" marT="45720" marB="45720"/>
                </a:tc>
              </a:tr>
              <a:tr h="452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基本风压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[填写]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[填写]</a:t>
                      </a:r>
                    </a:p>
                  </a:txBody>
                  <a:tcPr marL="91440" marR="91440" marT="45720" marB="45720"/>
                </a:tc>
              </a:tr>
              <a:tr h="452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基本雪压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[填写]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[填写]</a:t>
                      </a:r>
                    </a:p>
                  </a:txBody>
                  <a:tcPr marL="91440" marR="91440" marT="45720" marB="45720"/>
                </a:tc>
              </a:tr>
              <a:tr h="452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楼面活荷载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[填写]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按主要功能列示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94803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0D111A-EF15-42F1-A83C-0A4A3A8E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33675"/>
            <a:ext cx="12192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E5B52E-8C1C-42B1-8404-D1208455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48050"/>
            <a:ext cx="647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代表单体</a:t>
            </a:r>
          </a:p>
        </p:txBody>
      </p:sp>
    </p:spTree>
    <p:extLst>
      <p:ext uri="{BB962C8B-B14F-4D97-AF65-F5344CB8AC3E}">
        <p14:creationId xmlns:p14="http://schemas.microsoft.com/office/powerpoint/2010/main" val="14436409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F1B87E-82AC-48E3-B259-9226CE6B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76200"/>
            <a:ext cx="72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AE77EE-1B03-4F11-A35D-BE0A2E8F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[代表单体名称]结构设计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B3B5B7-07F5-4990-B471-C9CE33DE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148D30-6843-410E-B7CB-B6F421E9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7CE1A-915A-443F-8080-0685CD85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066800"/>
            <a:ext cx="54768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57F951-D83F-4047-95BF-3FC01157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62225"/>
            <a:ext cx="51720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0707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07070"/>
                </a:solidFill>
                <a:latin typeface="微软雅黑"/>
                <a:ea typeface="微软雅黑"/>
                <a:cs typeface="微软雅黑"/>
              </a:rPr>
              <a:t>建筑效果图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999C5C-7023-454E-91D7-BA39D56A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066800"/>
            <a:ext cx="54768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ED40CC-4283-40C5-8031-F2FD6230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62225"/>
            <a:ext cx="51720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0707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07070"/>
                </a:solidFill>
                <a:latin typeface="微软雅黑"/>
                <a:ea typeface="微软雅黑"/>
                <a:cs typeface="微软雅黑"/>
              </a:rPr>
              <a:t>结构计算模型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381000" y="4953000"/>
          <a:ext xmlns:a="http://schemas.openxmlformats.org/drawingml/2006/main" cx="11239500" cy="1047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73250"/>
                <a:gridCol w="1873250"/>
                <a:gridCol w="1873250"/>
                <a:gridCol w="1873250"/>
                <a:gridCol w="1873250"/>
                <a:gridCol w="1873250"/>
              </a:tblGrid>
              <a:tr h="5238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层数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长×宽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主要跨度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结构体系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抗震等级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[填写]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[填写]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[填写]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[填写]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[填写]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[填写]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95161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AD0F13-037B-4A26-BE21-C8EBC413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76200"/>
            <a:ext cx="72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E54619-7B5D-4E77-BAF0-C920831D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建筑与结构布置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F99DEF-00E0-40D4-832D-E2630816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664C02-D678-44A7-B3EA-B60A09D8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EE2D3-9E1D-4081-8838-698B044C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810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建筑图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2A7344-A6CA-44E8-A79F-F66D16B3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810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结构图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03B010-3F76-4B10-A745-79CBF01B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81100"/>
            <a:ext cx="547687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D51E32-1385-4507-8604-EC831CF6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90900"/>
            <a:ext cx="51720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0707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07070"/>
                </a:solidFill>
                <a:latin typeface="微软雅黑"/>
                <a:ea typeface="微软雅黑"/>
                <a:cs typeface="微软雅黑"/>
              </a:rPr>
              <a:t>典型建筑平面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045619-6E16-48D1-A38C-27AEE82D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181100"/>
            <a:ext cx="547687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D4BA64-4EC6-415D-8D82-3B29D22E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390900"/>
            <a:ext cx="51720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0707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07070"/>
                </a:solidFill>
                <a:latin typeface="微软雅黑"/>
                <a:ea typeface="微软雅黑"/>
                <a:cs typeface="微软雅黑"/>
              </a:rPr>
              <a:t>典型结构平面</a:t>
            </a:r>
          </a:p>
        </p:txBody>
      </p:sp>
    </p:spTree>
    <p:extLst>
      <p:ext uri="{BB962C8B-B14F-4D97-AF65-F5344CB8AC3E}">
        <p14:creationId xmlns:p14="http://schemas.microsoft.com/office/powerpoint/2010/main" val="2996190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544983-66D4-4217-A222-97DB5F99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76200"/>
            <a:ext cx="72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59C8F-44E7-49B4-A15B-3F086A41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典型结构平面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384030-4719-4471-80C2-A37CE7D0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DF9E52-DA71-428B-B997-B8D7DA8E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0039ED-4C20-40E0-B658-CBE27893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810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[楼层名称]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6A78FD-6CF1-4DCD-91D5-8B3C942C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00150"/>
            <a:ext cx="10429875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67DC36-E61A-4A5C-9F31-DC1D4B19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57575"/>
            <a:ext cx="101250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0707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07070"/>
                </a:solidFill>
                <a:latin typeface="微软雅黑"/>
                <a:ea typeface="微软雅黑"/>
                <a:cs typeface="微软雅黑"/>
              </a:rPr>
              <a:t>结构平面图</a:t>
            </a:r>
          </a:p>
        </p:txBody>
      </p:sp>
    </p:spTree>
    <p:extLst>
      <p:ext uri="{BB962C8B-B14F-4D97-AF65-F5344CB8AC3E}">
        <p14:creationId xmlns:p14="http://schemas.microsoft.com/office/powerpoint/2010/main" val="5413652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C64DFC-7C5F-450B-A7CC-8187E1D4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76200"/>
            <a:ext cx="72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70D6DE-C315-4899-8E70-42E0020C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构件尺寸与结构模型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92D7F6-BC5F-4308-901E-DECE6937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25029D-6F1D-46A0-BBF8-02A8821B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E4B3C3-FEED-4A2A-A167-5639CE13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5250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框架柱：[填写]</a:t>
            </a:r>
          </a:p>
          <a:p xmlns:a="http://schemas.openxmlformats.org/drawingml/2006/main">
            <a:pPr>
              <a:defRPr sz="180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框架梁：[填写]</a:t>
            </a:r>
          </a:p>
          <a:p xmlns:a="http://schemas.openxmlformats.org/drawingml/2006/main">
            <a:pPr>
              <a:defRPr sz="180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次梁：[填写]</a:t>
            </a:r>
          </a:p>
          <a:p xmlns:a="http://schemas.openxmlformats.org/drawingml/2006/main">
            <a:pPr>
              <a:defRPr sz="180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楼板厚度：[填写]</a:t>
            </a:r>
          </a:p>
          <a:p xmlns:a="http://schemas.openxmlformats.org/drawingml/2006/main">
            <a:pPr>
              <a:defRPr sz="180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结构体系：[填写]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0303D7-5E01-4396-A774-4AAAE940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67050"/>
            <a:ext cx="723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831"/>
          </a:solidFill>
          <a:ln xmlns:a="http://schemas.openxmlformats.org/drawingml/2006/main" w="9525">
            <a:solidFill>
              <a:srgbClr val="444B5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DD0B30-44D0-4074-9180-EF91E44B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467225"/>
            <a:ext cx="693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结构计算模型</a:t>
            </a:r>
          </a:p>
        </p:txBody>
      </p:sp>
    </p:spTree>
    <p:extLst>
      <p:ext uri="{BB962C8B-B14F-4D97-AF65-F5344CB8AC3E}">
        <p14:creationId xmlns:p14="http://schemas.microsoft.com/office/powerpoint/2010/main" val="9881287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D00E35-4ED7-4AB5-ABB0-0679EF3A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76200"/>
            <a:ext cx="72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DCFCA-7BE5-4E67-9C3A-5DD70D66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结构不规则与抗震措施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4AC35D-DA16-4298-B62A-F4E4E8A7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92EC10-A596-47BF-9D9E-8A746738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361950" y="1066800"/>
          <a:ext xmlns:a="http://schemas.openxmlformats.org/drawingml/2006/main" cx="600075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2000250"/>
                <a:gridCol w="2000250"/>
              </a:tblGrid>
              <a:tr h="685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检查项目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判定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处理措施</a:t>
                      </a:r>
                    </a:p>
                  </a:txBody>
                  <a:tcPr marL="91440" marR="91440" marT="45720" marB="45720"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扭转不规则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[填写]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[填写]</a:t>
                      </a:r>
                    </a:p>
                  </a:txBody>
                  <a:tcPr marL="91440" marR="91440" marT="45720" marB="45720"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楼板局部不连续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[填写]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[填写]</a:t>
                      </a:r>
                    </a:p>
                  </a:txBody>
                  <a:tcPr marL="91440" marR="91440" marT="45720" marB="45720"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局部构件不规则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[填写]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[填写]</a:t>
                      </a:r>
                    </a:p>
                  </a:txBody>
                  <a:tcPr marL="91440" marR="91440" marT="45720" marB="45720"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其他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[填写]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[填写]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549D1D-50B7-4E81-9BAF-A8344808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066800"/>
            <a:ext cx="5143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9B971E-3C64-42E2-811F-4C133283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09850"/>
            <a:ext cx="483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0707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07070"/>
                </a:solidFill>
                <a:latin typeface="微软雅黑"/>
                <a:ea typeface="微软雅黑"/>
                <a:cs typeface="微软雅黑"/>
              </a:rPr>
              <a:t>判定依据或关键平面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A4A349-B7FA-431E-A9E9-EB07E511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结论：[人工确认内容]</a:t>
            </a:r>
          </a:p>
        </p:txBody>
      </p:sp>
    </p:spTree>
    <p:extLst>
      <p:ext uri="{BB962C8B-B14F-4D97-AF65-F5344CB8AC3E}">
        <p14:creationId xmlns:p14="http://schemas.microsoft.com/office/powerpoint/2010/main" val="1291213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964139-486F-4887-88B9-4DE6A4C8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76200"/>
            <a:ext cx="72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AE22F6-D68F-4737-A5B2-E4227643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结构特点及难点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A90A70-2FD1-42C5-987C-876A1BEB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F2390A-8451-4E34-AF8B-C9497BBA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914744-DBA7-4250-B646-8ED70B37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334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[重难点名称]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4EA474-1BE8-4BDF-8B5A-32AE02E2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10490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E87015-8258-4149-9652-59BB7754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67100"/>
            <a:ext cx="1074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0707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07070"/>
                </a:solidFill>
                <a:latin typeface="微软雅黑"/>
                <a:ea typeface="微软雅黑"/>
                <a:cs typeface="微软雅黑"/>
              </a:rPr>
              <a:t>重难点位置示意图</a:t>
            </a:r>
          </a:p>
        </p:txBody>
      </p:sp>
    </p:spTree>
    <p:extLst>
      <p:ext uri="{BB962C8B-B14F-4D97-AF65-F5344CB8AC3E}">
        <p14:creationId xmlns:p14="http://schemas.microsoft.com/office/powerpoint/2010/main" val="93059278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49430F-7546-4538-9AD2-CE4D25B7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76200"/>
            <a:ext cx="72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06A6ED-CFED-42A7-A146-BCE0E1F8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方案比选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D0E7E9-68CC-4A66-B99A-E8D18E81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D66386-146B-4370-A3E2-E48C28DD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66750" y="1028700"/>
          <a:ext xmlns:a="http://schemas.openxmlformats.org/drawingml/2006/main" cx="10858500" cy="1809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71700"/>
                <a:gridCol w="2171700"/>
                <a:gridCol w="2171700"/>
                <a:gridCol w="2171700"/>
                <a:gridCol w="2171700"/>
              </a:tblGrid>
              <a:tr h="6032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结构形式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适用条件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主要优点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主要限制</a:t>
                      </a:r>
                    </a:p>
                  </a:txBody>
                  <a:tcPr marL="91440" marR="91440" marT="45720" marB="45720"/>
                </a:tc>
              </a:tr>
              <a:tr h="6032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方案一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[填写]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[填写]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[填写]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[填写]</a:t>
                      </a:r>
                    </a:p>
                  </a:txBody>
                  <a:tcPr marL="91440" marR="91440" marT="45720" marB="45720"/>
                </a:tc>
              </a:tr>
              <a:tr h="6032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方案二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[填写]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[填写]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[填写]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[填写]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4FBAE9-800C-4CCF-B82A-5DEFA678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509587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91EEBB-B832-4A82-B916-25F6CD3D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52925"/>
            <a:ext cx="47910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0707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07070"/>
                </a:solidFill>
                <a:latin typeface="微软雅黑"/>
                <a:ea typeface="微软雅黑"/>
                <a:cs typeface="微软雅黑"/>
              </a:rPr>
              <a:t>方案一示意图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195827-DF32-4DE1-9F41-DE95F884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43250"/>
            <a:ext cx="509587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52D3DA-93A8-486B-8C9C-31690878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352925"/>
            <a:ext cx="47910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0707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07070"/>
                </a:solidFill>
                <a:latin typeface="微软雅黑"/>
                <a:ea typeface="微软雅黑"/>
                <a:cs typeface="微软雅黑"/>
              </a:rPr>
              <a:t>方案二示意图</a:t>
            </a:r>
          </a:p>
        </p:txBody>
      </p:sp>
    </p:spTree>
    <p:extLst>
      <p:ext uri="{BB962C8B-B14F-4D97-AF65-F5344CB8AC3E}">
        <p14:creationId xmlns:p14="http://schemas.microsoft.com/office/powerpoint/2010/main" val="10300382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E2D885-0F7D-4DE3-BD4A-810815D7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76200"/>
            <a:ext cx="72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4F9A37-F8EF-4437-A2CD-5E842712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计算结果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E2AFAE-CC04-4EC2-B0E3-E4D84FCF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218D9C-24E4-484A-B026-173B9B4B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71500" y="1066800"/>
          <a:ext xmlns:a="http://schemas.openxmlformats.org/drawingml/2006/main" cx="66675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66875"/>
                <a:gridCol w="1666875"/>
                <a:gridCol w="1666875"/>
                <a:gridCol w="1666875"/>
              </a:tblGrid>
              <a:tr h="685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验算项目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控制值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计算值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结论</a:t>
                      </a:r>
                    </a:p>
                  </a:txBody>
                  <a:tcPr marL="91440" marR="91440" marT="45720" marB="45720"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位移比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[填写]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[填写]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[满足/复核]</a:t>
                      </a:r>
                    </a:p>
                  </a:txBody>
                  <a:tcPr marL="91440" marR="91440" marT="45720" marB="45720"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层间位移角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[填写]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[填写]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[满足/复核]</a:t>
                      </a:r>
                    </a:p>
                  </a:txBody>
                  <a:tcPr marL="91440" marR="91440" marT="45720" marB="45720"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周期比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[填写]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[填写]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[满足/复核]</a:t>
                      </a:r>
                    </a:p>
                  </a:txBody>
                  <a:tcPr marL="91440" marR="91440" marT="45720" marB="45720"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构件指标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[填写]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[填写]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[满足/复核]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04FF4-007B-437A-BBB3-E9EEA882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066800"/>
            <a:ext cx="4000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5E8B85-4C5D-4F89-83E8-66B3C00D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09850"/>
            <a:ext cx="3695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0707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07070"/>
                </a:solidFill>
                <a:latin typeface="微软雅黑"/>
                <a:ea typeface="微软雅黑"/>
                <a:cs typeface="微软雅黑"/>
              </a:rPr>
              <a:t>计算结果图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9635D6-A5B6-4D74-A5BB-4FD10B7C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结论：[人工确认内容]</a:t>
            </a:r>
          </a:p>
        </p:txBody>
      </p:sp>
    </p:spTree>
    <p:extLst>
      <p:ext uri="{BB962C8B-B14F-4D97-AF65-F5344CB8AC3E}">
        <p14:creationId xmlns:p14="http://schemas.microsoft.com/office/powerpoint/2010/main" val="203847165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FB90C8-26AA-4DD6-8380-D0772709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76200"/>
            <a:ext cx="72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B325A9-2B30-409E-9893-FA2442EC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设计结论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29A65A-070D-48F5-AF65-0C17C8BC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D0C697-6E7F-4331-B417-922D9622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71A90-D058-4CD4-A4CE-19110D5F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38250"/>
            <a:ext cx="10763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25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结构体系：[填写]</a:t>
            </a:r>
          </a:p>
          <a:p xmlns:a="http://schemas.openxmlformats.org/drawingml/2006/main">
            <a:pPr>
              <a:defRPr sz="225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25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关键控制项：[填写]</a:t>
            </a:r>
          </a:p>
          <a:p xmlns:a="http://schemas.openxmlformats.org/drawingml/2006/main">
            <a:pPr>
              <a:defRPr sz="225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25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拟采用方案：[人工确认内容]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18E0FA-9942-4DDB-85C8-D047CA1D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33750"/>
            <a:ext cx="6858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831"/>
          </a:solidFill>
          <a:ln xmlns:a="http://schemas.openxmlformats.org/drawingml/2006/main" w="9525">
            <a:solidFill>
              <a:srgbClr val="444B5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442101-F9D5-4A16-BC18-0F6B1764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495800"/>
            <a:ext cx="6553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单体结构模型或最终方案图</a:t>
            </a:r>
          </a:p>
        </p:txBody>
      </p:sp>
    </p:spTree>
    <p:extLst>
      <p:ext uri="{BB962C8B-B14F-4D97-AF65-F5344CB8AC3E}">
        <p14:creationId xmlns:p14="http://schemas.microsoft.com/office/powerpoint/2010/main" val="191178122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EFEC2A-2713-4647-9D58-4F9FDFDE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86050"/>
            <a:ext cx="552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405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19011150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2026-09-26T05:06:41.5340000Z</dcterms:created>
  <dcterms:modified xsi:type="dcterms:W3CDTF">2026-09-26T05:06:41.5340000Z</dcterms:modified>
</coreProperties>
</file>