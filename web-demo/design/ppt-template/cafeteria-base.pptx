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085" r:id="rId2"/>
    <p:sldId id="1485" r:id="rId3"/>
    <p:sldId id="2060" r:id="rId4"/>
    <p:sldId id="2061" r:id="rId5"/>
    <p:sldId id="2062" r:id="rId6"/>
    <p:sldId id="2084" r:id="rId7"/>
    <p:sldId id="2051" r:id="rId8"/>
    <p:sldId id="1579" r:id="rId9"/>
    <p:sldId id="2054" r:id="rId10"/>
    <p:sldId id="2053" r:id="rId11"/>
    <p:sldId id="2063" r:id="rId12"/>
    <p:sldId id="2105" r:id="rId13"/>
    <p:sldId id="2097" r:id="rId14"/>
    <p:sldId id="2098" r:id="rId15"/>
    <p:sldId id="2099" r:id="rId16"/>
    <p:sldId id="2100" r:id="rId17"/>
    <p:sldId id="2101" r:id="rId18"/>
    <p:sldId id="2102" r:id="rId19"/>
    <p:sldId id="2103" r:id="rId20"/>
    <p:sldId id="2077" r:id="rId21"/>
    <p:sldId id="2140" r:id="rId22"/>
    <p:sldId id="2108" r:id="rId23"/>
    <p:sldId id="2109" r:id="rId24"/>
    <p:sldId id="2110" r:id="rId25"/>
    <p:sldId id="2111" r:id="rId26"/>
  </p:sldIdLst>
  <p:sldSz cx="12192000" cy="6858000"/>
  <p:notesSz cx="7104063" cy="10234613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38" userDrawn="1">
          <p15:clr>
            <a:srgbClr val="A4A3A4"/>
          </p15:clr>
        </p15:guide>
        <p15:guide id="2" pos="135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orient="horz" pos="4077" userDrawn="1">
          <p15:clr>
            <a:srgbClr val="A4A3A4"/>
          </p15:clr>
        </p15:guide>
        <p15:guide id="5" pos="7469" userDrawn="1">
          <p15:clr>
            <a:srgbClr val="A4A3A4"/>
          </p15:clr>
        </p15:guide>
        <p15:guide id="6" orient="horz" pos="39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B0F0"/>
    <a:srgbClr val="FF7F7F"/>
    <a:srgbClr val="F27724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6" autoAdjust="0"/>
    <p:restoredTop sz="99877" autoAdjust="0"/>
  </p:normalViewPr>
  <p:slideViewPr>
    <p:cSldViewPr snapToGrid="0" showGuides="1">
      <p:cViewPr varScale="1">
        <p:scale>
          <a:sx n="84" d="100"/>
          <a:sy n="84" d="100"/>
        </p:scale>
        <p:origin x="51" y="135"/>
      </p:cViewPr>
      <p:guideLst>
        <p:guide orient="horz" pos="2338"/>
        <p:guide pos="135"/>
        <p:guide pos="3840"/>
        <p:guide orient="horz" pos="4077"/>
        <p:guide pos="7469"/>
        <p:guide orient="horz" pos="39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68" tIns="49534" rIns="99068" bIns="4953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68" tIns="49534" rIns="99068" bIns="49534" rtlCol="0"/>
          <a:lstStyle>
            <a:lvl1pPr algn="r">
              <a:defRPr sz="1300"/>
            </a:lvl1pPr>
          </a:lstStyle>
          <a:p>
            <a:fld id="{27068D5F-0D9B-468A-A49B-CCF1C5B97D21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68" tIns="49534" rIns="99068" bIns="4953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68" tIns="49534" rIns="99068" bIns="49534" rtlCol="0" anchor="b"/>
          <a:lstStyle>
            <a:lvl1pPr algn="r">
              <a:defRPr sz="1300"/>
            </a:lvl1pPr>
          </a:lstStyle>
          <a:p>
            <a:fld id="{21322729-9E9B-4B86-850A-4B6A12578F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68" tIns="49534" rIns="99068" bIns="4953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68" tIns="49534" rIns="99068" bIns="49534" rtlCol="0"/>
          <a:lstStyle>
            <a:lvl1pPr algn="r">
              <a:defRPr sz="1300"/>
            </a:lvl1pPr>
          </a:lstStyle>
          <a:p>
            <a:fld id="{90CC833C-C69B-40BA-BF0B-0457B021313A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8" tIns="49534" rIns="99068" bIns="4953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68" tIns="49534" rIns="99068" bIns="49534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68" tIns="49534" rIns="99068" bIns="4953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68" tIns="49534" rIns="99068" bIns="49534" rtlCol="0" anchor="b"/>
          <a:lstStyle>
            <a:lvl1pPr algn="r">
              <a:defRPr sz="1300"/>
            </a:lvl1pPr>
          </a:lstStyle>
          <a:p>
            <a:fld id="{9A55693A-4443-4690-A8FB-4742F87AB70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'1.0' encoding='UTF-8' standalone='yes'?>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'1.0' encoding='UTF-8' standalone='yes'?>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'1.0' encoding='UTF-8' standalone='yes'?>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'1.0' encoding='UTF-8' standalone='yes'?>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'1.0' encoding='UTF-8' standalone='yes'?>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FE16C0E-241A-4B23-8369-A0E5E2D7DA39}" type="datetime1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261144E0-D493-4C4F-BAD5-15BA14F72AE7}" type="datetime1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134FFFB1-7193-45D4-8ADE-59477C15B04F}" type="datetime1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07DF9D2-D77D-486D-8E76-17886BE3E751}" type="datetime1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B8949D91-D509-477E-B2B8-51F6314A5776}" type="datetime1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17DA36B9-73A9-4E7A-B827-7D5101C32EA6}" type="datetime1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40728CF5-9061-4919-B36D-17AA0D8BF0E4}" type="datetime1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A39ABDFB-B2BB-4BC6-BAA3-D8EB0147B24F}" type="datetime1">
              <a:rPr lang="zh-CN" altLang="en-US" smtClean="0"/>
              <a:t>2026/10/3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176D2144-897A-40D4-99C9-8314639F0D12}" type="datetime1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4735DDD1-865D-4A2F-A54F-DF81A81A6A4B}" type="datetime1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9D94644A-405A-4D9E-B607-CE5AB959F724}" type="datetime1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81E64-19EB-4A06-83E5-E9FABBCB51A7}" type="datetime1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58189" y="2811039"/>
            <a:ext cx="12192000" cy="19912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23206" y="3452623"/>
            <a:ext cx="10255135" cy="5418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</a:rPr>
              <a:t/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736225"/>
            <a:ext cx="12192000" cy="19912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543800" y="3460936"/>
            <a:ext cx="4648200" cy="5418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</a:rPr>
              <a:t>——  总体  ——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216893" y="64886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鸟瞰图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216893" y="648866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东侧鸟瞰图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216893" y="648866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西侧鸟瞰图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3068" y="64886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总平面图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mtClean="0"/>
              <a:t>6</a:t>
            </a:r>
          </a:p>
        </p:txBody>
      </p:sp>
      <p:cxnSp>
        <p:nvCxnSpPr>
          <p:cNvPr id="8" name="直接连接符 2"/>
          <p:cNvCxnSpPr/>
          <p:nvPr/>
        </p:nvCxnSpPr>
        <p:spPr>
          <a:xfrm>
            <a:off x="0" y="557832"/>
            <a:ext cx="12192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文本框 5"/>
          <p:cNvSpPr txBox="1"/>
          <p:nvPr/>
        </p:nvSpPr>
        <p:spPr>
          <a:xfrm>
            <a:off x="-1" y="0"/>
            <a:ext cx="362434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Arial Unicode MS v1" pitchFamily="34" charset="-128"/>
              </a:rPr>
              <a:t>01  结构设计—概况</a:t>
            </a:r>
          </a:p>
        </p:txBody>
      </p:sp>
      <p:sp>
        <p:nvSpPr>
          <p:cNvPr id="11" name="矩形 10"/>
          <p:cNvSpPr/>
          <p:nvPr/>
        </p:nvSpPr>
        <p:spPr>
          <a:xfrm>
            <a:off x="5765533" y="704908"/>
            <a:ext cx="619857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/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765533" y="2341262"/>
          <a:ext cx="6264358" cy="3606789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8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9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建筑单体</a:t>
                      </a:r>
                      <a:endParaRPr lang="zh-CN" sz="12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结构体系</a:t>
                      </a:r>
                      <a:endParaRPr lang="zh-CN" sz="12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层数</a:t>
                      </a:r>
                      <a:endParaRPr lang="zh-CN" sz="12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减隔震</a:t>
                      </a:r>
                      <a:endParaRPr lang="zh-CN" sz="12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抗震缝</a:t>
                      </a:r>
                      <a:endParaRPr lang="zh-CN" sz="12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indent="0" algn="l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812173" y="6345829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各单体总平布置图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mtClean="0"/>
              <a:t>7</a:t>
            </a:r>
          </a:p>
        </p:txBody>
      </p:sp>
      <p:cxnSp>
        <p:nvCxnSpPr>
          <p:cNvPr id="8" name="直接连接符 2"/>
          <p:cNvCxnSpPr/>
          <p:nvPr/>
        </p:nvCxnSpPr>
        <p:spPr>
          <a:xfrm>
            <a:off x="0" y="557832"/>
            <a:ext cx="12192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文本框 5"/>
          <p:cNvSpPr txBox="1"/>
          <p:nvPr/>
        </p:nvSpPr>
        <p:spPr>
          <a:xfrm>
            <a:off x="-1" y="0"/>
            <a:ext cx="3624349" cy="8925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Arial Unicode MS v1" pitchFamily="34" charset="-128"/>
              </a:rPr>
              <a:t>01  结构设计—设计参数</a:t>
            </a:r>
          </a:p>
        </p:txBody>
      </p:sp>
      <p:sp>
        <p:nvSpPr>
          <p:cNvPr id="3" name="矩形 2"/>
          <p:cNvSpPr/>
          <p:nvPr/>
        </p:nvSpPr>
        <p:spPr>
          <a:xfrm>
            <a:off x="3194574" y="690555"/>
            <a:ext cx="32512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表1 结构设计使用年限及分类等级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812173" y="3989354"/>
          <a:ext cx="6544383" cy="23940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829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参数</a:t>
                      </a:r>
                      <a:endParaRPr lang="zh-CN" sz="14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数值</a:t>
                      </a:r>
                      <a:endParaRPr lang="zh-CN" sz="14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抗震设防烈度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设计地震分组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场地类别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特征周期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水平地震影响系数最大值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地震加速度时程最大值（</a:t>
                      </a: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cm/s2</a:t>
                      </a: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3255726" y="3650800"/>
            <a:ext cx="18036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表2 地震设计参数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812173" y="995316"/>
          <a:ext cx="6544383" cy="23940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829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  <a:endParaRPr lang="zh-CN" sz="14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等级</a:t>
                      </a:r>
                      <a:endParaRPr lang="zh-CN" sz="14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结构设计使用年限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建筑结构安全等级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结构重要性系数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抗震设防类别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地基基础设计等级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建筑抗浮工程设计等级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mtClean="0"/>
              <a:t>8</a:t>
            </a:r>
          </a:p>
        </p:txBody>
      </p:sp>
      <p:cxnSp>
        <p:nvCxnSpPr>
          <p:cNvPr id="8" name="直接连接符 2"/>
          <p:cNvCxnSpPr/>
          <p:nvPr/>
        </p:nvCxnSpPr>
        <p:spPr>
          <a:xfrm>
            <a:off x="0" y="557832"/>
            <a:ext cx="12192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文本框 5"/>
          <p:cNvSpPr txBox="1"/>
          <p:nvPr/>
        </p:nvSpPr>
        <p:spPr>
          <a:xfrm>
            <a:off x="-1" y="0"/>
            <a:ext cx="3624349" cy="8925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Arial Unicode MS v1" pitchFamily="34" charset="-128"/>
              </a:rPr>
              <a:t>01  结构设计—设计参数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460440" y="1376835"/>
          <a:ext cx="8390600" cy="4446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40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3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00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单体名称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结构类型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抗震等级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框架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剪力墙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t/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t/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4197267" y="946388"/>
            <a:ext cx="24240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表3 结构体系及抗震等级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mtClean="0"/>
              <a:t>9</a:t>
            </a:r>
          </a:p>
        </p:txBody>
      </p:sp>
      <p:cxnSp>
        <p:nvCxnSpPr>
          <p:cNvPr id="8" name="直接连接符 2"/>
          <p:cNvCxnSpPr/>
          <p:nvPr/>
        </p:nvCxnSpPr>
        <p:spPr>
          <a:xfrm>
            <a:off x="0" y="557832"/>
            <a:ext cx="12192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文本框 5"/>
          <p:cNvSpPr txBox="1"/>
          <p:nvPr/>
        </p:nvSpPr>
        <p:spPr>
          <a:xfrm>
            <a:off x="-1" y="0"/>
            <a:ext cx="362434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Arial Unicode MS v1" pitchFamily="34" charset="-128"/>
              </a:rPr>
              <a:t>01  结构设计—注意事项</a:t>
            </a:r>
          </a:p>
        </p:txBody>
      </p:sp>
      <p:sp>
        <p:nvSpPr>
          <p:cNvPr id="6" name="矩形 5"/>
          <p:cNvSpPr/>
          <p:nvPr/>
        </p:nvSpPr>
        <p:spPr>
          <a:xfrm>
            <a:off x="357447" y="647579"/>
            <a:ext cx="10856421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4" algn="just" fontAlgn="base">
              <a:lnSpc>
                <a:spcPct val="150000"/>
              </a:lnSpc>
              <a:spcAft>
                <a:spcPts val="0"/>
              </a:spcAft>
              <a:buSzPts val="1200"/>
            </a:pPr>
            <a:r>
              <a:rPr lang="en-US" altLang="zh-CN" sz="19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mtClean="0"/>
              <a:t>10</a:t>
            </a:r>
          </a:p>
        </p:txBody>
      </p:sp>
      <p:cxnSp>
        <p:nvCxnSpPr>
          <p:cNvPr id="8" name="直接连接符 2"/>
          <p:cNvCxnSpPr/>
          <p:nvPr/>
        </p:nvCxnSpPr>
        <p:spPr>
          <a:xfrm>
            <a:off x="0" y="557832"/>
            <a:ext cx="12192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文本框 5"/>
          <p:cNvSpPr txBox="1"/>
          <p:nvPr/>
        </p:nvSpPr>
        <p:spPr>
          <a:xfrm>
            <a:off x="-1" y="0"/>
            <a:ext cx="362434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Arial Unicode MS v1" pitchFamily="34" charset="-128"/>
              </a:rPr>
              <a:t>01  结构设计—注意事项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57396" y="1284942"/>
          <a:ext cx="6923317" cy="2736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8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1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3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位置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构件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混凝土强度等级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00">
                <a:tc rowSpan="5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基础及地下室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基础垫层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地下室底板、顶板、基础梁、承台</a:t>
                      </a:r>
                      <a:endParaRPr lang="zh-CN" sz="1400" b="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地下室外墙</a:t>
                      </a:r>
                      <a:endParaRPr lang="zh-CN" sz="1400" b="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地下室</a:t>
                      </a:r>
                      <a:r>
                        <a:rPr lang="zh-CN" altLang="en-US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上部主楼范围</a:t>
                      </a: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框架柱或墙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纯地下室框架柱或墙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00">
                <a:tc row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上部结构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框架梁、楼板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框架柱、剪力墙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3156899" y="919446"/>
            <a:ext cx="20104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表4 混凝土强度等级</a:t>
            </a:r>
          </a:p>
        </p:txBody>
      </p:sp>
      <p:sp>
        <p:nvSpPr>
          <p:cNvPr id="5" name="矩形 4"/>
          <p:cNvSpPr/>
          <p:nvPr/>
        </p:nvSpPr>
        <p:spPr>
          <a:xfrm>
            <a:off x="761999" y="3887477"/>
            <a:ext cx="10595811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mtClean="0"/>
              <a:t>11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-1" y="0"/>
            <a:ext cx="362434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Arial Unicode MS v1" pitchFamily="34" charset="-128"/>
              </a:rPr>
              <a:t>02  结构设计</a:t>
            </a:r>
          </a:p>
        </p:txBody>
      </p:sp>
      <p:sp>
        <p:nvSpPr>
          <p:cNvPr id="12" name="矩形 11"/>
          <p:cNvSpPr/>
          <p:nvPr/>
        </p:nvSpPr>
        <p:spPr>
          <a:xfrm>
            <a:off x="6391665" y="5270110"/>
            <a:ext cx="560481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地下室顶板结构平面布置图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mtClean="0"/>
              <a:t>12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-1" y="0"/>
            <a:ext cx="362434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Arial Unicode MS v1" pitchFamily="34" charset="-128"/>
              </a:rPr>
              <a:t>02  结构设计</a:t>
            </a:r>
          </a:p>
        </p:txBody>
      </p:sp>
      <p:sp>
        <p:nvSpPr>
          <p:cNvPr id="12" name="矩形 11"/>
          <p:cNvSpPr/>
          <p:nvPr/>
        </p:nvSpPr>
        <p:spPr>
          <a:xfrm>
            <a:off x="2005662" y="6198221"/>
            <a:ext cx="288066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一层结构平面布置图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mtClean="0"/>
              <a:t>13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-1" y="0"/>
            <a:ext cx="362434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Arial Unicode MS v1" pitchFamily="34" charset="-128"/>
              </a:rPr>
              <a:t>02  结构设计</a:t>
            </a:r>
          </a:p>
        </p:txBody>
      </p:sp>
      <p:sp>
        <p:nvSpPr>
          <p:cNvPr id="12" name="矩形 11"/>
          <p:cNvSpPr/>
          <p:nvPr/>
        </p:nvSpPr>
        <p:spPr>
          <a:xfrm>
            <a:off x="2005662" y="6198221"/>
            <a:ext cx="38714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一层结构平面布置图-对应大样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mtClean="0"/>
              <a:t>14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-1" y="0"/>
            <a:ext cx="362434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Arial Unicode MS v1" pitchFamily="34" charset="-128"/>
              </a:rPr>
              <a:t>02  结构设计</a:t>
            </a:r>
          </a:p>
        </p:txBody>
      </p:sp>
      <p:sp>
        <p:nvSpPr>
          <p:cNvPr id="12" name="矩形 11"/>
          <p:cNvSpPr/>
          <p:nvPr/>
        </p:nvSpPr>
        <p:spPr>
          <a:xfrm>
            <a:off x="3510612" y="6225007"/>
            <a:ext cx="2880663" cy="49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二层结构平面布置图</a:t>
            </a:r>
          </a:p>
        </p:txBody>
      </p: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8877298" y="2671743"/>
          <a:ext cx="3057526" cy="1824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8210">
                <a:tc>
                  <a:txBody>
                    <a:bodyPr/>
                    <a:lstStyle/>
                    <a:p>
                      <a:r>
                        <a:rPr lang="zh-CN" altLang="en-US" dirty="0"/>
                        <a:t>楼号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隔震层最大位移（</a:t>
                      </a:r>
                      <a:r>
                        <a:rPr lang="en-US" altLang="zh-CN" dirty="0"/>
                        <a:t>mm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38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46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mtClean="0"/>
              <a:t>15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-1" y="0"/>
            <a:ext cx="362434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Arial Unicode MS v1" pitchFamily="34" charset="-128"/>
              </a:rPr>
              <a:t>02  结构设计</a:t>
            </a:r>
          </a:p>
        </p:txBody>
      </p:sp>
      <p:sp>
        <p:nvSpPr>
          <p:cNvPr id="12" name="矩形 11"/>
          <p:cNvSpPr/>
          <p:nvPr/>
        </p:nvSpPr>
        <p:spPr>
          <a:xfrm>
            <a:off x="3581571" y="6195801"/>
            <a:ext cx="288066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三层结构平面布置图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mtClean="0"/>
              <a:t>16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-1" y="0"/>
            <a:ext cx="362434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Arial Unicode MS v1" pitchFamily="34" charset="-128"/>
              </a:rPr>
              <a:t>02  结构设计</a:t>
            </a:r>
          </a:p>
        </p:txBody>
      </p:sp>
      <p:sp>
        <p:nvSpPr>
          <p:cNvPr id="12" name="矩形 11"/>
          <p:cNvSpPr/>
          <p:nvPr/>
        </p:nvSpPr>
        <p:spPr>
          <a:xfrm>
            <a:off x="3333921" y="6190825"/>
            <a:ext cx="288066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四层结构平面布置图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mtClean="0"/>
              <a:t>17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-1" y="0"/>
            <a:ext cx="362434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Arial Unicode MS v1" pitchFamily="34" charset="-128"/>
              </a:rPr>
              <a:t>03  特殊转换</a:t>
            </a:r>
          </a:p>
        </p:txBody>
      </p:sp>
      <p:sp>
        <p:nvSpPr>
          <p:cNvPr id="10" name="矩形 9"/>
          <p:cNvSpPr/>
          <p:nvPr/>
        </p:nvSpPr>
        <p:spPr>
          <a:xfrm>
            <a:off x="81770" y="634775"/>
            <a:ext cx="963580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阳台柱转换：</a:t>
            </a:r>
          </a:p>
        </p:txBody>
      </p:sp>
      <p:sp>
        <p:nvSpPr>
          <p:cNvPr id="12" name="矩形 11"/>
          <p:cNvSpPr/>
          <p:nvPr/>
        </p:nvSpPr>
        <p:spPr>
          <a:xfrm>
            <a:off x="2005662" y="6198221"/>
            <a:ext cx="2880663" cy="49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屋面层结构平面布置图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mtClean="0"/>
              <a:t>18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-1" y="0"/>
            <a:ext cx="362434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Arial Unicode MS v1" pitchFamily="34" charset="-128"/>
              </a:rPr>
              <a:t>02  结构设计</a:t>
            </a:r>
          </a:p>
        </p:txBody>
      </p:sp>
      <p:sp>
        <p:nvSpPr>
          <p:cNvPr id="12" name="矩形 11"/>
          <p:cNvSpPr/>
          <p:nvPr/>
        </p:nvSpPr>
        <p:spPr>
          <a:xfrm>
            <a:off x="3624348" y="6135615"/>
            <a:ext cx="391945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小屋面层结构平面布置图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mtClean="0"/>
              <a:t>19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-1" y="0"/>
            <a:ext cx="362434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Arial Unicode MS v1" pitchFamily="34" charset="-128"/>
              </a:rPr>
              <a:t>02  结构设计</a:t>
            </a:r>
          </a:p>
        </p:txBody>
      </p:sp>
      <p:sp>
        <p:nvSpPr>
          <p:cNvPr id="5" name="矩形 4"/>
          <p:cNvSpPr/>
          <p:nvPr/>
        </p:nvSpPr>
        <p:spPr>
          <a:xfrm>
            <a:off x="214962" y="593164"/>
            <a:ext cx="1039207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框架柱：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框架梁：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次梁：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板厚：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超限判断：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mtClean="0"/>
              <a:t>20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-1" y="0"/>
            <a:ext cx="362434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Arial Unicode MS v1" pitchFamily="34" charset="-128"/>
              </a:rPr>
              <a:t>02  结构设计</a:t>
            </a:r>
          </a:p>
        </p:txBody>
      </p:sp>
      <p:sp>
        <p:nvSpPr>
          <p:cNvPr id="5" name="矩形 4"/>
          <p:cNvSpPr/>
          <p:nvPr/>
        </p:nvSpPr>
        <p:spPr>
          <a:xfrm>
            <a:off x="214962" y="593164"/>
            <a:ext cx="10392077" cy="498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首层：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mtClean="0"/>
              <a:t>21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-1" y="0"/>
            <a:ext cx="362434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Arial Unicode MS v1" pitchFamily="34" charset="-128"/>
              </a:rPr>
              <a:t>02  结构设计</a:t>
            </a:r>
          </a:p>
        </p:txBody>
      </p:sp>
      <p:sp>
        <p:nvSpPr>
          <p:cNvPr id="7" name="矩形 6"/>
          <p:cNvSpPr/>
          <p:nvPr/>
        </p:nvSpPr>
        <p:spPr>
          <a:xfrm>
            <a:off x="214962" y="593164"/>
            <a:ext cx="103920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二层：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mtClean="0"/>
              <a:t>22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-1" y="0"/>
            <a:ext cx="362434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Arial Unicode MS v1" pitchFamily="34" charset="-128"/>
              </a:rPr>
              <a:t>02  结构设计</a:t>
            </a:r>
          </a:p>
        </p:txBody>
      </p:sp>
      <p:sp>
        <p:nvSpPr>
          <p:cNvPr id="7" name="矩形 6"/>
          <p:cNvSpPr/>
          <p:nvPr/>
        </p:nvSpPr>
        <p:spPr>
          <a:xfrm>
            <a:off x="214962" y="593164"/>
            <a:ext cx="103920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三层：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mtClean="0"/>
              <a:t>23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-1" y="0"/>
            <a:ext cx="362434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Arial Unicode MS v1" pitchFamily="34" charset="-128"/>
              </a:rPr>
              <a:t>02  结构设计</a:t>
            </a:r>
          </a:p>
        </p:txBody>
      </p:sp>
      <p:sp>
        <p:nvSpPr>
          <p:cNvPr id="7" name="矩形 6"/>
          <p:cNvSpPr/>
          <p:nvPr/>
        </p:nvSpPr>
        <p:spPr>
          <a:xfrm>
            <a:off x="214962" y="593164"/>
            <a:ext cx="103920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屋面层：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mtClean="0"/>
              <a:t>24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-1" y="0"/>
            <a:ext cx="362434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Arial Unicode MS v1" pitchFamily="34" charset="-128"/>
              </a:rPr>
              <a:t>02  结构设计</a:t>
            </a:r>
          </a:p>
        </p:txBody>
      </p:sp>
      <p:sp>
        <p:nvSpPr>
          <p:cNvPr id="7" name="矩形 6"/>
          <p:cNvSpPr/>
          <p:nvPr/>
        </p:nvSpPr>
        <p:spPr>
          <a:xfrm>
            <a:off x="214962" y="593164"/>
            <a:ext cx="103920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小屋面层：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05a317f-daf4-44e1-846e-b108310a19db"/>
  <p:tag name="COMMONDATA" val="eyJoZGlkIjoiMGYwYTNmYjQxZmQxMjA3M2ExZjZiZTZjNjBjYTdkMD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0000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1469</Words>
  <Application>Microsoft Office PowerPoint</Application>
  <PresentationFormat>宽屏</PresentationFormat>
  <Paragraphs>230</Paragraphs>
  <Slides>25</Slides>
  <Notes>0</Notes>
  <HiddenSlides>0</HiddenSlides>
  <MMClips>0</MMClips>
  <ScaleCrop>false</ScaleCrop>
  <HeadingPairs>
    <vt:vector size="6" baseType="variant">
      <vt:variant>
        <vt:lpstr/>
      </vt:variant>
      <vt:variant>
        <vt:i4>6</vt:i4>
      </vt:variant>
      <vt:variant>
        <vt:lpstr/>
      </vt:variant>
      <vt:variant>
        <vt:i4>1</vt:i4>
      </vt:variant>
      <vt:variant>
        <vt:lpstr/>
      </vt:variant>
      <vt:variant>
        <vt:i4>25</vt:i4>
      </vt:variant>
    </vt:vector>
  </HeadingPairs>
  <TitlesOfParts>
    <vt:vector size="32" baseType="lpstr"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931</cp:revision>
  <cp:lastPrinted>2024-06-18T09:50:00Z</cp:lastPrinted>
  <dcterms:created xsi:type="dcterms:W3CDTF">2019-06-19T02:08:00Z</dcterms:created>
  <dcterms:modified xsi:type="dcterms:W3CDTF">2026-10-03T05:29:16Z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19F686AC31DD4D1C944897BF8EB2347E_13</vt:lpwstr>
  </property>
</Properties>
</file>